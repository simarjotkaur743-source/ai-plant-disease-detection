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3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828800"/>
            <a:ext cx="5120640" cy="5120640"/>
          </a:xfrm>
          <a:prstGeom prst="ellipse">
            <a:avLst/>
          </a:prstGeom>
          <a:solidFill>
            <a:srgbClr val="2C5F2D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206240"/>
            <a:ext cx="4754880" cy="4754880"/>
          </a:xfrm>
          <a:prstGeom prst="ellipse">
            <a:avLst/>
          </a:prstGeom>
          <a:solidFill>
            <a:srgbClr val="6E9B4A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234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9AD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PROJECT REPORT 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1691640"/>
            <a:ext cx="9601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5200" b="1" dirty="0">
                <a:solidFill>
                  <a:srgbClr val="F6FA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AI-Based Plant</a:t>
            </a:r>
            <a:endParaRPr lang="en-US" sz="5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200" b="1" dirty="0">
                <a:solidFill>
                  <a:srgbClr val="F6FA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Disease Detection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822960" y="361188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BFE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Artificial Intelligence &amp; Machine Learning for early crop disease identification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822960" y="4846320"/>
            <a:ext cx="5120640" cy="1234440"/>
          </a:xfrm>
          <a:prstGeom prst="rect">
            <a:avLst/>
          </a:prstGeom>
          <a:solidFill>
            <a:srgbClr val="1C3F22"/>
          </a:solidFill>
          <a:ln w="12700">
            <a:solidFill>
              <a:srgbClr val="2A52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4983480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D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
</a:t>
            </a:r>
            <a:endParaRPr lang="en-US" sz="12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6F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Simarjot Kaur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749040" y="4983480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D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To
</a:t>
            </a:r>
            <a:endParaRPr lang="en-US" sz="12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6F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Ms. Ravneet Kaur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A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AI-Based Plant Disease Detection?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6309360" cy="4709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60120" y="1737360"/>
            <a:ext cx="566928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b="1" dirty="0">
                <a:solidFill>
                  <a:srgbClr val="162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diseases caused by fungi, bacteria, viruses, and pests can severely reduce crop yield if not caught early.</a:t>
            </a:r>
            <a:endParaRPr lang="en-US" sz="15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5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162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detection uses image processing, machine learning, and deep learning to analyse leaf images and automatically identify disease — replacing slow, error-prone manual inspection.</a:t>
            </a:r>
            <a:endParaRPr lang="en-US" sz="15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5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162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enables farmers to act early, reducing crop loss and improving yield.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223760" y="1417320"/>
            <a:ext cx="4297680" cy="1874520"/>
          </a:xfrm>
          <a:prstGeom prst="rect">
            <a:avLst/>
          </a:prstGeom>
          <a:solidFill>
            <a:srgbClr val="EAF3E1"/>
          </a:solidFill>
          <a:ln/>
        </p:spPr>
      </p:sp>
      <p:sp>
        <p:nvSpPr>
          <p:cNvPr id="6" name="Shape 4"/>
          <p:cNvSpPr/>
          <p:nvPr/>
        </p:nvSpPr>
        <p:spPr>
          <a:xfrm>
            <a:off x="7498080" y="173736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73645" y="1912925"/>
            <a:ext cx="380390" cy="38039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412480" y="170992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Capture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498080" y="2514600"/>
            <a:ext cx="3794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of leaf via camera or phone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223760" y="3566160"/>
            <a:ext cx="4297680" cy="1874520"/>
          </a:xfrm>
          <a:prstGeom prst="rect">
            <a:avLst/>
          </a:prstGeom>
          <a:solidFill>
            <a:srgbClr val="EAF3E1"/>
          </a:solidFill>
          <a:ln/>
        </p:spPr>
      </p:sp>
      <p:sp>
        <p:nvSpPr>
          <p:cNvPr id="11" name="Shape 8"/>
          <p:cNvSpPr/>
          <p:nvPr/>
        </p:nvSpPr>
        <p:spPr>
          <a:xfrm>
            <a:off x="7498080" y="388620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3645" y="4061765"/>
            <a:ext cx="380390" cy="38039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412480" y="385876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7498080" y="4663440"/>
            <a:ext cx="3794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 detects disease patterns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57200" y="63550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Plant Disease Detection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11430000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A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 of the Report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600200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9023" y="1736263"/>
            <a:ext cx="294803" cy="29480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91640" y="1600200"/>
            <a:ext cx="9692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62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concept and importance of AI-based disease detection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822960" y="2468880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023" y="2604943"/>
            <a:ext cx="294803" cy="29480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691640" y="2468880"/>
            <a:ext cx="9692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62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the working process of AI models used for identification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822960" y="3337560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023" y="3473623"/>
            <a:ext cx="294803" cy="29480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691640" y="3337560"/>
            <a:ext cx="9692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62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the machine learning and deep learning techniques applied</a:t>
            </a:r>
            <a:endParaRPr lang="en-US" sz="1700" dirty="0"/>
          </a:p>
        </p:txBody>
      </p:sp>
      <p:sp>
        <p:nvSpPr>
          <p:cNvPr id="12" name="Shape 7"/>
          <p:cNvSpPr/>
          <p:nvPr/>
        </p:nvSpPr>
        <p:spPr>
          <a:xfrm>
            <a:off x="822960" y="4206240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023" y="4342303"/>
            <a:ext cx="294803" cy="29480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691640" y="4206240"/>
            <a:ext cx="9692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62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 the tools, technologies, and datasets used</a:t>
            </a:r>
            <a:endParaRPr lang="en-US" sz="1700" dirty="0"/>
          </a:p>
        </p:txBody>
      </p:sp>
      <p:sp>
        <p:nvSpPr>
          <p:cNvPr id="15" name="Shape 9"/>
          <p:cNvSpPr/>
          <p:nvPr/>
        </p:nvSpPr>
        <p:spPr>
          <a:xfrm>
            <a:off x="822960" y="5074920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023" y="5210983"/>
            <a:ext cx="294803" cy="294803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691640" y="5074920"/>
            <a:ext cx="9692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62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the benefits, challenges, and future scope</a:t>
            </a:r>
            <a:endParaRPr lang="en-US" sz="1700" dirty="0"/>
          </a:p>
        </p:txBody>
      </p:sp>
      <p:sp>
        <p:nvSpPr>
          <p:cNvPr id="18" name="Text 11"/>
          <p:cNvSpPr/>
          <p:nvPr/>
        </p:nvSpPr>
        <p:spPr>
          <a:xfrm>
            <a:off x="457200" y="63550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Plant Disease Detection</a:t>
            </a:r>
            <a:endParaRPr lang="en-US" sz="1000" dirty="0"/>
          </a:p>
        </p:txBody>
      </p:sp>
      <p:sp>
        <p:nvSpPr>
          <p:cNvPr id="19" name="Text 12"/>
          <p:cNvSpPr/>
          <p:nvPr/>
        </p:nvSpPr>
        <p:spPr>
          <a:xfrm>
            <a:off x="11430000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33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6FA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AI is Needed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554480"/>
            <a:ext cx="3566160" cy="2103120"/>
          </a:xfrm>
          <a:prstGeom prst="rect">
            <a:avLst/>
          </a:prstGeom>
          <a:solidFill>
            <a:srgbClr val="1C3F22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1828800"/>
            <a:ext cx="594360" cy="594360"/>
          </a:xfrm>
          <a:prstGeom prst="ellipse">
            <a:avLst/>
          </a:prstGeom>
          <a:solidFill>
            <a:srgbClr val="24491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8446" y="1971446"/>
            <a:ext cx="309067" cy="30906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5603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FA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Speed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292608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E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within seconds vs. hours or days manually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297680" y="1554480"/>
            <a:ext cx="3566160" cy="2103120"/>
          </a:xfrm>
          <a:prstGeom prst="rect">
            <a:avLst/>
          </a:prstGeom>
          <a:solidFill>
            <a:srgbClr val="1C3F22"/>
          </a:solidFill>
          <a:ln/>
        </p:spPr>
      </p:sp>
      <p:sp>
        <p:nvSpPr>
          <p:cNvPr id="9" name="Shape 6"/>
          <p:cNvSpPr/>
          <p:nvPr/>
        </p:nvSpPr>
        <p:spPr>
          <a:xfrm>
            <a:off x="4617720" y="1828800"/>
            <a:ext cx="594360" cy="594360"/>
          </a:xfrm>
          <a:prstGeom prst="ellipse">
            <a:avLst/>
          </a:prstGeom>
          <a:solidFill>
            <a:srgbClr val="24491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0366" y="1971446"/>
            <a:ext cx="309067" cy="30906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72000" y="25603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FA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572000" y="292608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E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subtle symptoms the human eye may miss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8229600" y="1554480"/>
            <a:ext cx="3566160" cy="2103120"/>
          </a:xfrm>
          <a:prstGeom prst="rect">
            <a:avLst/>
          </a:prstGeom>
          <a:solidFill>
            <a:srgbClr val="1C3F22"/>
          </a:solidFill>
          <a:ln/>
        </p:spPr>
      </p:sp>
      <p:sp>
        <p:nvSpPr>
          <p:cNvPr id="14" name="Shape 10"/>
          <p:cNvSpPr/>
          <p:nvPr/>
        </p:nvSpPr>
        <p:spPr>
          <a:xfrm>
            <a:off x="8549640" y="1828800"/>
            <a:ext cx="594360" cy="594360"/>
          </a:xfrm>
          <a:prstGeom prst="ellipse">
            <a:avLst/>
          </a:prstGeom>
          <a:solidFill>
            <a:srgbClr val="24491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2286" y="1971446"/>
            <a:ext cx="309067" cy="30906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503920" y="25603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FA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Accessibility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8503920" y="292608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E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via just a smartphone camera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365760" y="4023360"/>
            <a:ext cx="3566160" cy="2103120"/>
          </a:xfrm>
          <a:prstGeom prst="rect">
            <a:avLst/>
          </a:prstGeom>
          <a:solidFill>
            <a:srgbClr val="1C3F22"/>
          </a:solidFill>
          <a:ln/>
        </p:spPr>
      </p:sp>
      <p:sp>
        <p:nvSpPr>
          <p:cNvPr id="19" name="Shape 14"/>
          <p:cNvSpPr/>
          <p:nvPr/>
        </p:nvSpPr>
        <p:spPr>
          <a:xfrm>
            <a:off x="685800" y="4297680"/>
            <a:ext cx="594360" cy="594360"/>
          </a:xfrm>
          <a:prstGeom prst="ellipse">
            <a:avLst/>
          </a:prstGeom>
          <a:solidFill>
            <a:srgbClr val="24491F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446" y="4440326"/>
            <a:ext cx="309067" cy="309067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40080" y="50292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FA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Scalability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640080" y="539496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E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Deployable across large farmlands, multiple crops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4297680" y="4023360"/>
            <a:ext cx="3566160" cy="2103120"/>
          </a:xfrm>
          <a:prstGeom prst="rect">
            <a:avLst/>
          </a:prstGeom>
          <a:solidFill>
            <a:srgbClr val="1C3F22"/>
          </a:solidFill>
          <a:ln/>
        </p:spPr>
      </p:sp>
      <p:sp>
        <p:nvSpPr>
          <p:cNvPr id="24" name="Shape 18"/>
          <p:cNvSpPr/>
          <p:nvPr/>
        </p:nvSpPr>
        <p:spPr>
          <a:xfrm>
            <a:off x="4617720" y="4297680"/>
            <a:ext cx="594360" cy="594360"/>
          </a:xfrm>
          <a:prstGeom prst="ellipse">
            <a:avLst/>
          </a:prstGeom>
          <a:solidFill>
            <a:srgbClr val="24491F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0366" y="4440326"/>
            <a:ext cx="309067" cy="309067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572000" y="50292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FA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Cost-effective</a:t>
            </a:r>
            <a:endParaRPr lang="en-US" sz="1600" dirty="0"/>
          </a:p>
        </p:txBody>
      </p:sp>
      <p:sp>
        <p:nvSpPr>
          <p:cNvPr id="27" name="Text 20"/>
          <p:cNvSpPr/>
          <p:nvPr/>
        </p:nvSpPr>
        <p:spPr>
          <a:xfrm>
            <a:off x="4572000" y="539496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E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expert consultation costs &amp; crop loss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457200" y="63550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Plant Disease Detection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11430000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A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AI-Based Detection Works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25196" y="1828800"/>
            <a:ext cx="205740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10996" y="2148840"/>
            <a:ext cx="685800" cy="68580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1016" y="233172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34924" y="3017520"/>
            <a:ext cx="18379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62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Acquisition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62356" y="3703320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7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Captured via camera, phone or drone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2482596" y="2926080"/>
            <a:ext cx="256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E9B4A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2738628" y="1828800"/>
            <a:ext cx="205740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24428" y="2148840"/>
            <a:ext cx="685800" cy="68580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4448" y="233172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848356" y="3017520"/>
            <a:ext cx="18379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2875788" y="3703320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7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Resize, normalize, remove noise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4796028" y="2926080"/>
            <a:ext cx="256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E9B4A"/>
                </a:solidFill>
              </a:rPr>
              <a:t>→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5052060" y="1828800"/>
            <a:ext cx="205740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737860" y="2148840"/>
            <a:ext cx="685800" cy="68580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233172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161788" y="3017520"/>
            <a:ext cx="18379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62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Extraction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5189220" y="3703320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7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Colour, texture &amp; shape patterns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7109460" y="2926080"/>
            <a:ext cx="256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E9B4A"/>
                </a:solidFill>
              </a:rPr>
              <a:t>→</a:t>
            </a:r>
            <a:endParaRPr lang="en-US" sz="2000" dirty="0"/>
          </a:p>
        </p:txBody>
      </p:sp>
      <p:sp>
        <p:nvSpPr>
          <p:cNvPr id="21" name="Shape 16"/>
          <p:cNvSpPr/>
          <p:nvPr/>
        </p:nvSpPr>
        <p:spPr>
          <a:xfrm>
            <a:off x="7365492" y="1828800"/>
            <a:ext cx="205740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8051292" y="2148840"/>
            <a:ext cx="685800" cy="68580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1312" y="2331720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475220" y="3017520"/>
            <a:ext cx="18379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Classification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7502652" y="3703320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7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predicts disease class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9422892" y="2926080"/>
            <a:ext cx="256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E9B4A"/>
                </a:solidFill>
              </a:rPr>
              <a:t>→</a:t>
            </a:r>
            <a:endParaRPr lang="en-US" sz="2000" dirty="0"/>
          </a:p>
        </p:txBody>
      </p:sp>
      <p:sp>
        <p:nvSpPr>
          <p:cNvPr id="27" name="Shape 21"/>
          <p:cNvSpPr/>
          <p:nvPr/>
        </p:nvSpPr>
        <p:spPr>
          <a:xfrm>
            <a:off x="9678924" y="1828800"/>
            <a:ext cx="205740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10364724" y="2148840"/>
            <a:ext cx="685800" cy="68580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24744" y="2331720"/>
            <a:ext cx="365760" cy="36576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9788652" y="3017520"/>
            <a:ext cx="18379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</a:t>
            </a:r>
            <a:endParaRPr lang="en-US" sz="1400" dirty="0"/>
          </a:p>
        </p:txBody>
      </p:sp>
      <p:sp>
        <p:nvSpPr>
          <p:cNvPr id="31" name="Text 24"/>
          <p:cNvSpPr/>
          <p:nvPr/>
        </p:nvSpPr>
        <p:spPr>
          <a:xfrm>
            <a:off x="9816084" y="3703320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7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+ suggested remedy</a:t>
            </a:r>
            <a:endParaRPr lang="en-US" sz="1000" dirty="0"/>
          </a:p>
        </p:txBody>
      </p:sp>
      <p:sp>
        <p:nvSpPr>
          <p:cNvPr id="32" name="Text 25"/>
          <p:cNvSpPr/>
          <p:nvPr/>
        </p:nvSpPr>
        <p:spPr>
          <a:xfrm>
            <a:off x="457200" y="63550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Plant Disease Detection</a:t>
            </a:r>
            <a:endParaRPr lang="en-US" sz="1000" dirty="0"/>
          </a:p>
        </p:txBody>
      </p:sp>
      <p:sp>
        <p:nvSpPr>
          <p:cNvPr id="33" name="Text 26"/>
          <p:cNvSpPr/>
          <p:nvPr/>
        </p:nvSpPr>
        <p:spPr>
          <a:xfrm>
            <a:off x="11430000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A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 &amp; Deep Learning Techniques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5349240" cy="4709160"/>
          </a:xfrm>
          <a:prstGeom prst="rect">
            <a:avLst/>
          </a:prstGeom>
          <a:solidFill>
            <a:srgbClr val="EAF3E1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6459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Traditional Machine Learning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240280"/>
            <a:ext cx="48463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b="1" dirty="0">
                <a:solidFill>
                  <a:srgbClr val="162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Vector Machines (SVM)</a:t>
            </a:r>
            <a:endParaRPr lang="en-US" sz="13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162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diseases using extracted image features</a:t>
            </a:r>
            <a:endParaRPr lang="en-US" sz="13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b="1" dirty="0">
                <a:solidFill>
                  <a:srgbClr val="162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K-Nearest Neighbours (KNN)</a:t>
            </a:r>
            <a:endParaRPr lang="en-US" sz="13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162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based on similarity to labelled examples</a:t>
            </a:r>
            <a:endParaRPr lang="en-US" sz="13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b="1" dirty="0">
                <a:solidFill>
                  <a:srgbClr val="162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62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of decision trees for better accuracy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172200" y="1417320"/>
            <a:ext cx="5349240" cy="47091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6446520" y="16459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6FA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Learning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46520" y="2240280"/>
            <a:ext cx="48463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b="1" dirty="0">
                <a:solidFill>
                  <a:srgbClr val="E4F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Convolutional Neural Networks (CNN)</a:t>
            </a:r>
            <a:endParaRPr lang="en-US" sz="13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E4F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learns spatial features from images</a:t>
            </a:r>
            <a:endParaRPr lang="en-US" sz="13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b="1" dirty="0">
                <a:solidFill>
                  <a:srgbClr val="E4F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(ResNet, VGGNet, MobileNet)</a:t>
            </a:r>
            <a:endParaRPr lang="en-US" sz="13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E4F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Pre-trained models fine-tuned for higher accuracy</a:t>
            </a:r>
            <a:endParaRPr lang="en-US" sz="13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b="1" dirty="0">
                <a:solidFill>
                  <a:srgbClr val="E4F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Detection (YOLO, Faster R-CNN)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4F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&amp; localizes diseased regions on a leaf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3550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Plant Disease Detection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430000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33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6FA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97280" y="1463040"/>
            <a:ext cx="9966960" cy="841248"/>
          </a:xfrm>
          <a:prstGeom prst="rect">
            <a:avLst/>
          </a:prstGeom>
          <a:solidFill>
            <a:srgbClr val="1C3F22"/>
          </a:solidFill>
          <a:ln/>
        </p:spPr>
      </p:sp>
      <p:sp>
        <p:nvSpPr>
          <p:cNvPr id="4" name="Shape 2"/>
          <p:cNvSpPr/>
          <p:nvPr/>
        </p:nvSpPr>
        <p:spPr>
          <a:xfrm>
            <a:off x="1325880" y="1609344"/>
            <a:ext cx="548640" cy="548640"/>
          </a:xfrm>
          <a:prstGeom prst="ellipse">
            <a:avLst/>
          </a:prstGeom>
          <a:solidFill>
            <a:srgbClr val="24491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7554" y="1741018"/>
            <a:ext cx="285293" cy="28529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103120" y="1554480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6FA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Layer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937760" y="1554480"/>
            <a:ext cx="5943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E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Cameras, mobile apps, IoT sensors capture plant images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1097280" y="2450592"/>
            <a:ext cx="9966960" cy="841248"/>
          </a:xfrm>
          <a:prstGeom prst="rect">
            <a:avLst/>
          </a:prstGeom>
          <a:solidFill>
            <a:srgbClr val="1C3F22"/>
          </a:solidFill>
          <a:ln/>
        </p:spPr>
      </p:sp>
      <p:sp>
        <p:nvSpPr>
          <p:cNvPr id="9" name="Shape 6"/>
          <p:cNvSpPr/>
          <p:nvPr/>
        </p:nvSpPr>
        <p:spPr>
          <a:xfrm>
            <a:off x="1325880" y="2596896"/>
            <a:ext cx="548640" cy="548640"/>
          </a:xfrm>
          <a:prstGeom prst="ellipse">
            <a:avLst/>
          </a:prstGeom>
          <a:solidFill>
            <a:srgbClr val="24491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7554" y="2728570"/>
            <a:ext cx="285293" cy="28529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103120" y="2542032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6FA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Processing Layer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4937760" y="2542032"/>
            <a:ext cx="5943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E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Preprocessing, segmentation &amp; feature extraction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1097280" y="3438144"/>
            <a:ext cx="9966960" cy="841248"/>
          </a:xfrm>
          <a:prstGeom prst="rect">
            <a:avLst/>
          </a:prstGeom>
          <a:solidFill>
            <a:srgbClr val="1C3F22"/>
          </a:solidFill>
          <a:ln/>
        </p:spPr>
      </p:sp>
      <p:sp>
        <p:nvSpPr>
          <p:cNvPr id="14" name="Shape 10"/>
          <p:cNvSpPr/>
          <p:nvPr/>
        </p:nvSpPr>
        <p:spPr>
          <a:xfrm>
            <a:off x="1325880" y="3584448"/>
            <a:ext cx="548640" cy="548640"/>
          </a:xfrm>
          <a:prstGeom prst="ellipse">
            <a:avLst/>
          </a:prstGeom>
          <a:solidFill>
            <a:srgbClr val="24491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7554" y="3716122"/>
            <a:ext cx="285293" cy="28529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103120" y="3529584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6FA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Model Layer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4937760" y="3529584"/>
            <a:ext cx="5943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E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CNN / ML model performs classification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1097280" y="4425696"/>
            <a:ext cx="9966960" cy="841248"/>
          </a:xfrm>
          <a:prstGeom prst="rect">
            <a:avLst/>
          </a:prstGeom>
          <a:solidFill>
            <a:srgbClr val="1C3F22"/>
          </a:solidFill>
          <a:ln/>
        </p:spPr>
      </p:sp>
      <p:sp>
        <p:nvSpPr>
          <p:cNvPr id="19" name="Shape 14"/>
          <p:cNvSpPr/>
          <p:nvPr/>
        </p:nvSpPr>
        <p:spPr>
          <a:xfrm>
            <a:off x="1325880" y="4572000"/>
            <a:ext cx="548640" cy="548640"/>
          </a:xfrm>
          <a:prstGeom prst="ellipse">
            <a:avLst/>
          </a:prstGeom>
          <a:solidFill>
            <a:srgbClr val="24491F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7554" y="4703674"/>
            <a:ext cx="285293" cy="285293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2103120" y="4517136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6FA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Layer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4937760" y="4517136"/>
            <a:ext cx="5943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E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Diagnosis, severity level &amp; treatment recommendation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1097280" y="5413248"/>
            <a:ext cx="9966960" cy="841248"/>
          </a:xfrm>
          <a:prstGeom prst="rect">
            <a:avLst/>
          </a:prstGeom>
          <a:solidFill>
            <a:srgbClr val="1C3F22"/>
          </a:solidFill>
          <a:ln/>
        </p:spPr>
      </p:sp>
      <p:sp>
        <p:nvSpPr>
          <p:cNvPr id="24" name="Shape 18"/>
          <p:cNvSpPr/>
          <p:nvPr/>
        </p:nvSpPr>
        <p:spPr>
          <a:xfrm>
            <a:off x="1325880" y="5559552"/>
            <a:ext cx="548640" cy="548640"/>
          </a:xfrm>
          <a:prstGeom prst="ellipse">
            <a:avLst/>
          </a:prstGeom>
          <a:solidFill>
            <a:srgbClr val="24491F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57554" y="5691226"/>
            <a:ext cx="285293" cy="285293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2103120" y="5504688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6FA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Cloud/Server Integration</a:t>
            </a:r>
            <a:endParaRPr lang="en-US" sz="1500" dirty="0"/>
          </a:p>
        </p:txBody>
      </p:sp>
      <p:sp>
        <p:nvSpPr>
          <p:cNvPr id="27" name="Text 20"/>
          <p:cNvSpPr/>
          <p:nvPr/>
        </p:nvSpPr>
        <p:spPr>
          <a:xfrm>
            <a:off x="4937760" y="5504688"/>
            <a:ext cx="5943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E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storage, model updates &amp; remote access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457200" y="63550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Plant Disease Detection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11430000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A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Technologies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600200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9023" y="1736263"/>
            <a:ext cx="294803" cy="29480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91640" y="1554480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5852160" y="1554480"/>
            <a:ext cx="5486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language for ML &amp; image processing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822960" y="2468880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023" y="2604943"/>
            <a:ext cx="294803" cy="29480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91640" y="2423160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TensorFlow / Keras / PyTorch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5852160" y="2423160"/>
            <a:ext cx="5486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and training deep learning models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822960" y="3337560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023" y="3473623"/>
            <a:ext cx="294803" cy="29480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691640" y="3291840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OpenCV</a:t>
            </a:r>
            <a:endParaRPr lang="en-US" sz="1550" dirty="0"/>
          </a:p>
        </p:txBody>
      </p:sp>
      <p:sp>
        <p:nvSpPr>
          <p:cNvPr id="14" name="Text 9"/>
          <p:cNvSpPr/>
          <p:nvPr/>
        </p:nvSpPr>
        <p:spPr>
          <a:xfrm>
            <a:off x="5852160" y="3291840"/>
            <a:ext cx="5486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preprocessing — resize, filter, segment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822960" y="4206240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023" y="4342303"/>
            <a:ext cx="294803" cy="29480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691640" y="4160520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Colab / Jupyter</a:t>
            </a:r>
            <a:endParaRPr lang="en-US" sz="1550" dirty="0"/>
          </a:p>
        </p:txBody>
      </p:sp>
      <p:sp>
        <p:nvSpPr>
          <p:cNvPr id="18" name="Text 12"/>
          <p:cNvSpPr/>
          <p:nvPr/>
        </p:nvSpPr>
        <p:spPr>
          <a:xfrm>
            <a:off x="5852160" y="4160520"/>
            <a:ext cx="5486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 and experimentation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822960" y="5074920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023" y="5210983"/>
            <a:ext cx="294803" cy="294803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691640" y="5029200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Flask / Django / Mobile Frameworks</a:t>
            </a:r>
            <a:endParaRPr lang="en-US" sz="1550" dirty="0"/>
          </a:p>
        </p:txBody>
      </p:sp>
      <p:sp>
        <p:nvSpPr>
          <p:cNvPr id="22" name="Text 15"/>
          <p:cNvSpPr/>
          <p:nvPr/>
        </p:nvSpPr>
        <p:spPr>
          <a:xfrm>
            <a:off x="5852160" y="5029200"/>
            <a:ext cx="5486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Deploying trained models as applications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457200" y="63550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Plant Disease Detection</a:t>
            </a:r>
            <a:endParaRPr lang="en-US" sz="1000" dirty="0"/>
          </a:p>
        </p:txBody>
      </p:sp>
      <p:sp>
        <p:nvSpPr>
          <p:cNvPr id="24" name="Text 17"/>
          <p:cNvSpPr/>
          <p:nvPr/>
        </p:nvSpPr>
        <p:spPr>
          <a:xfrm>
            <a:off x="11430000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A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08760"/>
            <a:ext cx="52578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1783080"/>
            <a:ext cx="685800" cy="685800"/>
          </a:xfrm>
          <a:prstGeom prst="ellipse">
            <a:avLst/>
          </a:prstGeom>
          <a:solidFill>
            <a:srgbClr val="EAF3E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1947672"/>
            <a:ext cx="356616" cy="3566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28800" y="1764792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 Applications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14400" y="2651760"/>
            <a:ext cx="4709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diagnosis &amp; treatment suggestions from a photo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263640" y="1508760"/>
            <a:ext cx="52578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537960" y="1783080"/>
            <a:ext cx="685800" cy="685800"/>
          </a:xfrm>
          <a:prstGeom prst="ellipse">
            <a:avLst/>
          </a:prstGeom>
          <a:solidFill>
            <a:srgbClr val="EAF3E1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2552" y="1947672"/>
            <a:ext cx="356616" cy="35661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52360" y="1764792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Drone-Based Monitoring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6537960" y="2651760"/>
            <a:ext cx="4709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large farmlands to detect outbreaks early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40080" y="3840480"/>
            <a:ext cx="52578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914400" y="4114800"/>
            <a:ext cx="685800" cy="685800"/>
          </a:xfrm>
          <a:prstGeom prst="ellipse">
            <a:avLst/>
          </a:prstGeom>
          <a:solidFill>
            <a:srgbClr val="EAF3E1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" y="4279392"/>
            <a:ext cx="356616" cy="35661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828800" y="4096512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Farming Systems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914400" y="4983480"/>
            <a:ext cx="4709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integration monitors crop, soil &amp; weather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263640" y="3840480"/>
            <a:ext cx="52578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537960" y="4114800"/>
            <a:ext cx="685800" cy="685800"/>
          </a:xfrm>
          <a:prstGeom prst="ellipse">
            <a:avLst/>
          </a:prstGeom>
          <a:solidFill>
            <a:srgbClr val="EAF3E1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2552" y="4279392"/>
            <a:ext cx="356616" cy="35661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452360" y="4096512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Advisory Services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6537960" y="4983480"/>
            <a:ext cx="4709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alerts &amp; guidance to farming communities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457200" y="63550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Plant Disease Detection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11430000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33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6FA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645920"/>
            <a:ext cx="548640" cy="548640"/>
          </a:xfrm>
          <a:prstGeom prst="ellipse">
            <a:avLst/>
          </a:prstGeom>
          <a:solidFill>
            <a:srgbClr val="1C3F2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1777594"/>
            <a:ext cx="285293" cy="28529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45920" y="1645920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6F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early detection, reducing crop loss and improving yield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822960" y="2487168"/>
            <a:ext cx="548640" cy="548640"/>
          </a:xfrm>
          <a:prstGeom prst="ellipse">
            <a:avLst/>
          </a:prstGeom>
          <a:solidFill>
            <a:srgbClr val="1C3F22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634" y="2618842"/>
            <a:ext cx="285293" cy="28529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645920" y="2487168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6F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fast and accurate diagnosis without requiring expert presence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822960" y="3328416"/>
            <a:ext cx="548640" cy="548640"/>
          </a:xfrm>
          <a:prstGeom prst="ellipse">
            <a:avLst/>
          </a:prstGeom>
          <a:solidFill>
            <a:srgbClr val="1C3F22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634" y="3460090"/>
            <a:ext cx="285293" cy="28529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645920" y="3328416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6F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excessive and unnecessary use of pesticides through targeted treatment</a:t>
            </a:r>
            <a:endParaRPr lang="en-US" sz="1700" dirty="0"/>
          </a:p>
        </p:txBody>
      </p:sp>
      <p:sp>
        <p:nvSpPr>
          <p:cNvPr id="12" name="Shape 7"/>
          <p:cNvSpPr/>
          <p:nvPr/>
        </p:nvSpPr>
        <p:spPr>
          <a:xfrm>
            <a:off x="822960" y="4169664"/>
            <a:ext cx="548640" cy="548640"/>
          </a:xfrm>
          <a:prstGeom prst="ellipse">
            <a:avLst/>
          </a:prstGeom>
          <a:solidFill>
            <a:srgbClr val="1C3F2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634" y="4301338"/>
            <a:ext cx="285293" cy="28529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645920" y="4169664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6F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accessibility for farmers in remote areas via mobile solutions</a:t>
            </a:r>
            <a:endParaRPr lang="en-US" sz="1700" dirty="0"/>
          </a:p>
        </p:txBody>
      </p:sp>
      <p:sp>
        <p:nvSpPr>
          <p:cNvPr id="15" name="Shape 9"/>
          <p:cNvSpPr/>
          <p:nvPr/>
        </p:nvSpPr>
        <p:spPr>
          <a:xfrm>
            <a:off x="822960" y="5010912"/>
            <a:ext cx="548640" cy="548640"/>
          </a:xfrm>
          <a:prstGeom prst="ellipse">
            <a:avLst/>
          </a:prstGeom>
          <a:solidFill>
            <a:srgbClr val="1C3F22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4634" y="5142586"/>
            <a:ext cx="285293" cy="285293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645920" y="5010912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6F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data-driven decision-making in agriculture</a:t>
            </a:r>
            <a:endParaRPr lang="en-US" sz="1700" dirty="0"/>
          </a:p>
        </p:txBody>
      </p:sp>
      <p:sp>
        <p:nvSpPr>
          <p:cNvPr id="18" name="Text 11"/>
          <p:cNvSpPr/>
          <p:nvPr/>
        </p:nvSpPr>
        <p:spPr>
          <a:xfrm>
            <a:off x="457200" y="63550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Plant Disease Detection</a:t>
            </a:r>
            <a:endParaRPr lang="en-US" sz="1000" dirty="0"/>
          </a:p>
        </p:txBody>
      </p:sp>
      <p:sp>
        <p:nvSpPr>
          <p:cNvPr id="19" name="Text 12"/>
          <p:cNvSpPr/>
          <p:nvPr/>
        </p:nvSpPr>
        <p:spPr>
          <a:xfrm>
            <a:off x="11430000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A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Future Scope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5349240" cy="4709160"/>
          </a:xfrm>
          <a:prstGeom prst="rect">
            <a:avLst/>
          </a:prstGeom>
          <a:solidFill>
            <a:srgbClr val="FBEFEA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69164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019" y="1845259"/>
            <a:ext cx="332842" cy="33284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37360" y="17373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A4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14400" y="2468880"/>
            <a:ext cx="48006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large, diverse, labelled datasets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accuracy in poor lighting or complex backgrounds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computational requirements for training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connectivity in rural farming regions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detecting multiple co-occurring diseases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172200" y="1417320"/>
            <a:ext cx="5349240" cy="4709160"/>
          </a:xfrm>
          <a:prstGeom prst="rect">
            <a:avLst/>
          </a:prstGeom>
          <a:solidFill>
            <a:srgbClr val="EAF3E1"/>
          </a:solidFill>
          <a:ln/>
        </p:spPr>
      </p:sp>
      <p:sp>
        <p:nvSpPr>
          <p:cNvPr id="9" name="Shape 6"/>
          <p:cNvSpPr/>
          <p:nvPr/>
        </p:nvSpPr>
        <p:spPr>
          <a:xfrm>
            <a:off x="6446520" y="169164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0139" y="1845259"/>
            <a:ext cx="332842" cy="33284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269480" y="17373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6446520" y="2468880"/>
            <a:ext cx="48006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AI models for low-power mobile devices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+ satellite integration for predictive disease modelling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to build farmer trust in diagnoses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voice interfaces for inclusive access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457200" y="63550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Plant Disease Detection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11430000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33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2C5F2D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144000" y="3657600"/>
            <a:ext cx="4572000" cy="4572000"/>
          </a:xfrm>
          <a:prstGeom prst="ellipse">
            <a:avLst/>
          </a:prstGeom>
          <a:solidFill>
            <a:srgbClr val="6E9B4A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1887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6FA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2057400"/>
            <a:ext cx="87782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C9E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plant disease detection offers a fast, accurate, and accessible alternative to manual inspection. By leveraging CNNs and deep learning, farmers can identify diseases early and act quickly — improving crop yield and reducing losses. Integration with IoT, drones, and mobile platforms will further advance smart, sustainable farming.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822960" y="466344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AD1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22960" y="5349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6F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Simarjot Kaur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5669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FE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to Ms. Ravneet Kaur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AI-Based Plant Disease Detection</dc:title>
  <dc:subject>PptxGenJS Presentation</dc:subject>
  <dc:creator>Simarjot Kaur</dc:creator>
  <cp:lastModifiedBy>Simarjot Kaur</cp:lastModifiedBy>
  <cp:revision>1</cp:revision>
  <dcterms:created xsi:type="dcterms:W3CDTF">2026-07-09T11:41:11Z</dcterms:created>
  <dcterms:modified xsi:type="dcterms:W3CDTF">2026-07-09T11:41:11Z</dcterms:modified>
</cp:coreProperties>
</file>